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44"/>
  </p:notesMasterIdLst>
  <p:sldIdLst>
    <p:sldId id="256" r:id="rId2"/>
    <p:sldId id="31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85" r:id="rId21"/>
    <p:sldId id="275" r:id="rId22"/>
    <p:sldId id="276" r:id="rId23"/>
    <p:sldId id="277" r:id="rId24"/>
    <p:sldId id="278" r:id="rId25"/>
    <p:sldId id="279" r:id="rId26"/>
    <p:sldId id="280" r:id="rId27"/>
    <p:sldId id="286" r:id="rId28"/>
    <p:sldId id="281" r:id="rId29"/>
    <p:sldId id="287" r:id="rId30"/>
    <p:sldId id="282" r:id="rId31"/>
    <p:sldId id="288" r:id="rId32"/>
    <p:sldId id="283" r:id="rId33"/>
    <p:sldId id="300" r:id="rId34"/>
    <p:sldId id="299" r:id="rId35"/>
    <p:sldId id="301" r:id="rId36"/>
    <p:sldId id="302" r:id="rId37"/>
    <p:sldId id="303" r:id="rId38"/>
    <p:sldId id="309" r:id="rId39"/>
    <p:sldId id="304" r:id="rId40"/>
    <p:sldId id="305" r:id="rId41"/>
    <p:sldId id="306" r:id="rId42"/>
    <p:sldId id="307" r:id="rId4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6A74"/>
    <a:srgbClr val="090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79733" autoAdjust="0"/>
  </p:normalViewPr>
  <p:slideViewPr>
    <p:cSldViewPr snapToGrid="0" snapToObjects="1">
      <p:cViewPr varScale="1">
        <p:scale>
          <a:sx n="117" d="100"/>
          <a:sy n="117" d="100"/>
        </p:scale>
        <p:origin x="60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67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0E58-0A54-7307-FE55-5F8FC272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20E18-2C7F-8CF5-56CC-9819B0F6B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C20A-94CD-5E69-E84C-E2E22C8F0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B875-8DD8-ECEC-EA5E-67381CA1A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84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PLANTUML CODE - Paste at plantuml.com, export PNG, insert into slide:</a:t>
            </a:r>
          </a:p>
          <a:p>
            <a:r>
              <a:rPr lang="en-US" dirty="0"/>
              <a:t>@startuml</a:t>
            </a:r>
          </a:p>
          <a:p>
            <a:r>
              <a:rPr lang="en-US" dirty="0"/>
              <a:t>left to right direction</a:t>
            </a:r>
          </a:p>
          <a:p>
            <a:r>
              <a:rPr lang="en-US" dirty="0"/>
              <a:t>scale 1.5</a:t>
            </a:r>
          </a:p>
          <a:p>
            <a:r>
              <a:rPr lang="en-US" dirty="0"/>
              <a:t>skinparam actorStyle awesome</a:t>
            </a:r>
          </a:p>
          <a:p>
            <a:r>
              <a:rPr lang="en-US" dirty="0"/>
              <a:t>skinparam packageStyle rectangle</a:t>
            </a:r>
          </a:p>
          <a:p>
            <a:r>
              <a:rPr lang="en-US" dirty="0"/>
              <a:t>skinparam ArrowColor #E63946</a:t>
            </a:r>
          </a:p>
          <a:p>
            <a:r>
              <a:rPr lang="en-US" dirty="0"/>
              <a:t>skinparam UsecaseBorderColor #1C2B36</a:t>
            </a:r>
          </a:p>
          <a:p>
            <a:r>
              <a:rPr lang="en-US" dirty="0"/>
              <a:t>skinparam UsecaseBackgroundColor #F8F9FA</a:t>
            </a:r>
          </a:p>
          <a:p>
            <a:r>
              <a:rPr lang="en-US" dirty="0"/>
              <a:t>title AidField - Use Case Diagram</a:t>
            </a:r>
          </a:p>
          <a:p>
            <a:r>
              <a:rPr lang="en-US" dirty="0"/>
              <a:t>actor "Bystander" as U</a:t>
            </a:r>
          </a:p>
          <a:p>
            <a:r>
              <a:rPr lang="en-US" dirty="0"/>
              <a:t>rectangle "AidField (Device)" {</a:t>
            </a:r>
          </a:p>
          <a:p>
            <a:r>
              <a:rPr lang="en-US" dirty="0"/>
              <a:t>  usecase "Browse Scenarios" as UC1</a:t>
            </a:r>
          </a:p>
          <a:p>
            <a:r>
              <a:rPr lang="en-US" dirty="0"/>
              <a:t>  usecase "View Step-by-Step Guide" as UC2</a:t>
            </a:r>
          </a:p>
          <a:p>
            <a:r>
              <a:rPr lang="en-US" dirty="0"/>
              <a:t>  usecase "Get Improvised Resources" as UC3</a:t>
            </a:r>
          </a:p>
          <a:p>
            <a:r>
              <a:rPr lang="en-US" dirty="0"/>
              <a:t>  usecase "One-Tap Emergency Dial" as UC4</a:t>
            </a:r>
          </a:p>
          <a:p>
            <a:r>
              <a:rPr lang="en-US" dirty="0"/>
              <a:t>  usecase "Keyword Search" as UC5</a:t>
            </a:r>
          </a:p>
          <a:p>
            <a:r>
              <a:rPr lang="en-US" dirty="0"/>
              <a:t>  usecase "Read Steps Aloud (TTS)" as UC6</a:t>
            </a:r>
          </a:p>
          <a:p>
            <a:r>
              <a:rPr lang="en-US" dirty="0"/>
              <a:t>  usecase "Toggle Language (EN/SW)" as UC10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rectangle "Online Features" {</a:t>
            </a:r>
          </a:p>
          <a:p>
            <a:r>
              <a:rPr lang="en-US" dirty="0"/>
              <a:t>  usecase "AI Text Triage" as UC7</a:t>
            </a:r>
          </a:p>
          <a:p>
            <a:r>
              <a:rPr lang="en-US" dirty="0"/>
              <a:t>  usecase "Voice Input to AI" as UC8</a:t>
            </a:r>
          </a:p>
          <a:p>
            <a:r>
              <a:rPr lang="en-US" dirty="0"/>
              <a:t>  usecase "Visual Input (Camera)" as UC9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actor "Gemini API" as G</a:t>
            </a:r>
          </a:p>
          <a:p>
            <a:r>
              <a:rPr lang="en-US" dirty="0"/>
              <a:t>U --&gt; UC1</a:t>
            </a:r>
          </a:p>
          <a:p>
            <a:r>
              <a:rPr lang="en-US" dirty="0"/>
              <a:t>U --&gt; UC2</a:t>
            </a:r>
          </a:p>
          <a:p>
            <a:r>
              <a:rPr lang="en-US" dirty="0"/>
              <a:t>U --&gt; UC3</a:t>
            </a:r>
          </a:p>
          <a:p>
            <a:r>
              <a:rPr lang="en-US" dirty="0"/>
              <a:t>U --&gt; UC4</a:t>
            </a:r>
          </a:p>
          <a:p>
            <a:r>
              <a:rPr lang="en-US" dirty="0"/>
              <a:t>U --&gt; UC5</a:t>
            </a:r>
          </a:p>
          <a:p>
            <a:r>
              <a:rPr lang="en-US" dirty="0"/>
              <a:t>U --&gt; UC6</a:t>
            </a:r>
          </a:p>
          <a:p>
            <a:r>
              <a:rPr lang="en-US" dirty="0"/>
              <a:t>U --&gt; UC10</a:t>
            </a:r>
          </a:p>
          <a:p>
            <a:r>
              <a:rPr lang="en-US" dirty="0"/>
              <a:t>U --&gt; UC7</a:t>
            </a:r>
          </a:p>
          <a:p>
            <a:r>
              <a:rPr lang="en-US" dirty="0"/>
              <a:t>U --&gt; UC8</a:t>
            </a:r>
          </a:p>
          <a:p>
            <a:r>
              <a:rPr lang="en-US" dirty="0"/>
              <a:t>U --&gt; UC9</a:t>
            </a:r>
          </a:p>
          <a:p>
            <a:r>
              <a:rPr lang="en-US" dirty="0"/>
              <a:t>UC7 --&gt; G</a:t>
            </a:r>
          </a:p>
          <a:p>
            <a:r>
              <a:rPr lang="en-US" dirty="0"/>
              <a:t>UC8 --&gt; G</a:t>
            </a:r>
          </a:p>
          <a:p>
            <a:r>
              <a:rPr lang="en-US" dirty="0"/>
              <a:t>UC9 --&gt; G</a:t>
            </a:r>
          </a:p>
          <a:p>
            <a:r>
              <a:rPr lang="en-US" dirty="0"/>
              <a:t>@enduml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PLANTUML CODE - Paste at plantuml.com, export PNG, insert into slide:</a:t>
            </a:r>
          </a:p>
          <a:p>
            <a:r>
              <a:rPr lang="en-US" dirty="0"/>
              <a:t>@startuml</a:t>
            </a:r>
          </a:p>
          <a:p>
            <a:r>
              <a:rPr lang="en-US" dirty="0"/>
              <a:t>skinparam componentStyle rectangle</a:t>
            </a:r>
          </a:p>
          <a:p>
            <a:r>
              <a:rPr lang="en-US" dirty="0"/>
              <a:t>skinparam ArrowColor #E63946</a:t>
            </a:r>
          </a:p>
          <a:p>
            <a:r>
              <a:rPr lang="en-US" dirty="0"/>
              <a:t>skinparam ComponentBorderColor #1C2B36</a:t>
            </a:r>
          </a:p>
          <a:p>
            <a:r>
              <a:rPr lang="en-US" dirty="0"/>
              <a:t>skinparam ComponentBackgroundColor #F0F4F8</a:t>
            </a:r>
          </a:p>
          <a:p>
            <a:r>
              <a:rPr lang="en-US" dirty="0"/>
              <a:t>title AidField - System Architecture</a:t>
            </a:r>
          </a:p>
          <a:p>
            <a:r>
              <a:rPr lang="en-US" dirty="0"/>
              <a:t>package "Presentation Layer" {</a:t>
            </a:r>
          </a:p>
          <a:p>
            <a:r>
              <a:rPr lang="en-US" dirty="0"/>
              <a:t>  [HomeScreen]</a:t>
            </a:r>
          </a:p>
          <a:p>
            <a:r>
              <a:rPr lang="en-US" dirty="0"/>
              <a:t>  [ScenariosScreen]</a:t>
            </a:r>
          </a:p>
          <a:p>
            <a:r>
              <a:rPr lang="en-US" dirty="0"/>
              <a:t>  [ScenarioScreen]</a:t>
            </a:r>
          </a:p>
          <a:p>
            <a:r>
              <a:rPr lang="en-US" dirty="0"/>
              <a:t>  [SettingsScreen]</a:t>
            </a:r>
          </a:p>
          <a:p>
            <a:r>
              <a:rPr lang="en-US" dirty="0"/>
              <a:t>  [EmergencyScreen]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package "Connectivity Layer" {</a:t>
            </a:r>
          </a:p>
          <a:p>
            <a:r>
              <a:rPr lang="en-US" dirty="0"/>
              <a:t>  [NetInfo Controller]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package "Offline Tier (Always Available)" {</a:t>
            </a:r>
          </a:p>
          <a:p>
            <a:r>
              <a:rPr lang="en-US" dirty="0"/>
              <a:t>  [SQLite Database]</a:t>
            </a:r>
          </a:p>
          <a:p>
            <a:r>
              <a:rPr lang="en-US" dirty="0"/>
              <a:t>  [Keyword Matcher]</a:t>
            </a:r>
          </a:p>
          <a:p>
            <a:r>
              <a:rPr lang="en-US" dirty="0"/>
              <a:t>  [Decision Tree]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package "Online Tier (When Connected)" {</a:t>
            </a:r>
          </a:p>
          <a:p>
            <a:r>
              <a:rPr lang="en-US" dirty="0"/>
              <a:t>  [Gemini API Client]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package "Device Hardware" {</a:t>
            </a:r>
          </a:p>
          <a:p>
            <a:r>
              <a:rPr lang="en-US" dirty="0"/>
              <a:t>  [Microphone]</a:t>
            </a:r>
          </a:p>
          <a:p>
            <a:r>
              <a:rPr lang="en-US" dirty="0"/>
              <a:t>  [Camera]</a:t>
            </a:r>
          </a:p>
          <a:p>
            <a:r>
              <a:rPr lang="en-US" dirty="0"/>
              <a:t>  [Speaker]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[HomeScreen] --&gt; [NetInfo Controller]</a:t>
            </a:r>
          </a:p>
          <a:p>
            <a:r>
              <a:rPr lang="en-US" dirty="0"/>
              <a:t>[NetInfo Controller] --&gt; [Keyword Matcher] : Offline</a:t>
            </a:r>
          </a:p>
          <a:p>
            <a:r>
              <a:rPr lang="en-US" dirty="0"/>
              <a:t>[NetInfo Controller] --&gt; [Gemini API Client] : Online</a:t>
            </a:r>
          </a:p>
          <a:p>
            <a:r>
              <a:rPr lang="en-US" dirty="0"/>
              <a:t>[Keyword Matcher] --&gt; [SQLite Database]</a:t>
            </a:r>
          </a:p>
          <a:p>
            <a:r>
              <a:rPr lang="en-US" dirty="0"/>
              <a:t>[Decision Tree] --&gt; [SQLite Database]</a:t>
            </a:r>
          </a:p>
          <a:p>
            <a:r>
              <a:rPr lang="en-US" dirty="0"/>
              <a:t>[ScenarioScreen] --&gt; [Speaker] : TTS</a:t>
            </a:r>
          </a:p>
          <a:p>
            <a:r>
              <a:rPr lang="en-US" dirty="0"/>
              <a:t>[HomeScreen] --&gt; [Microphone] : Voice</a:t>
            </a:r>
          </a:p>
          <a:p>
            <a:r>
              <a:rPr lang="en-US" dirty="0"/>
              <a:t>[HomeScreen] --&gt; [Camera] : Image</a:t>
            </a:r>
          </a:p>
          <a:p>
            <a:r>
              <a:rPr lang="en-US" dirty="0"/>
              <a:t>[Gemini API Client] --&gt; [google.ai] : HTTPS</a:t>
            </a:r>
          </a:p>
          <a:p>
            <a:r>
              <a:rPr lang="en-US" dirty="0"/>
              <a:t>@enduml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PLANTUML CODE - Paste at plantuml.com, export PNG, insert into slide:</a:t>
            </a:r>
          </a:p>
          <a:p>
            <a:r>
              <a:rPr lang="en-US" dirty="0"/>
              <a:t>@startuml</a:t>
            </a:r>
          </a:p>
          <a:p>
            <a:r>
              <a:rPr lang="en-US" dirty="0"/>
              <a:t>skinparam linetype ortho</a:t>
            </a:r>
          </a:p>
          <a:p>
            <a:r>
              <a:rPr lang="en-US" dirty="0"/>
              <a:t>skinparam ArrowColor #E63946</a:t>
            </a:r>
          </a:p>
          <a:p>
            <a:r>
              <a:rPr lang="en-US" dirty="0"/>
              <a:t>skinparam EntityBorderColor #1C2B36</a:t>
            </a:r>
          </a:p>
          <a:p>
            <a:r>
              <a:rPr lang="en-US" dirty="0"/>
              <a:t>skinparam EntityBackgroundColor #F0F4F8</a:t>
            </a:r>
          </a:p>
          <a:p>
            <a:r>
              <a:rPr lang="en-US" dirty="0"/>
              <a:t>title AidField - Database ER Diagram</a:t>
            </a:r>
          </a:p>
          <a:p>
            <a:r>
              <a:rPr lang="en-US" dirty="0"/>
              <a:t>entity "categories" as CAT {</a:t>
            </a:r>
          </a:p>
          <a:p>
            <a:r>
              <a:rPr lang="en-US" dirty="0"/>
              <a:t>  * category_id (PK)</a:t>
            </a:r>
          </a:p>
          <a:p>
            <a:r>
              <a:rPr lang="en-US" dirty="0"/>
              <a:t>  --</a:t>
            </a:r>
          </a:p>
          <a:p>
            <a:r>
              <a:rPr lang="en-US" dirty="0"/>
              <a:t>  category_name</a:t>
            </a:r>
          </a:p>
          <a:p>
            <a:r>
              <a:rPr lang="en-US" dirty="0"/>
              <a:t>  icon_name</a:t>
            </a:r>
          </a:p>
          <a:p>
            <a:r>
              <a:rPr lang="en-US" dirty="0"/>
              <a:t>  urgency_color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entity "scenarios" as SCN {</a:t>
            </a:r>
          </a:p>
          <a:p>
            <a:r>
              <a:rPr lang="en-US" dirty="0"/>
              <a:t>  * scenario_id (PK)</a:t>
            </a:r>
          </a:p>
          <a:p>
            <a:r>
              <a:rPr lang="en-US" dirty="0"/>
              <a:t>  --</a:t>
            </a:r>
          </a:p>
          <a:p>
            <a:r>
              <a:rPr lang="en-US" dirty="0"/>
              <a:t>  category_id (FK)</a:t>
            </a:r>
          </a:p>
          <a:p>
            <a:r>
              <a:rPr lang="en-US" dirty="0"/>
              <a:t>  title</a:t>
            </a:r>
          </a:p>
          <a:p>
            <a:r>
              <a:rPr lang="en-US" dirty="0"/>
              <a:t>  keywords</a:t>
            </a:r>
          </a:p>
          <a:p>
            <a:r>
              <a:rPr lang="en-US" dirty="0"/>
              <a:t>  urgency_level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entity "steps" as STP {</a:t>
            </a:r>
          </a:p>
          <a:p>
            <a:r>
              <a:rPr lang="en-US" dirty="0"/>
              <a:t>  * step_id (PK)</a:t>
            </a:r>
          </a:p>
          <a:p>
            <a:r>
              <a:rPr lang="en-US" dirty="0"/>
              <a:t>  --</a:t>
            </a:r>
          </a:p>
          <a:p>
            <a:r>
              <a:rPr lang="en-US" dirty="0"/>
              <a:t>  scenario_id (FK)</a:t>
            </a:r>
          </a:p>
          <a:p>
            <a:r>
              <a:rPr lang="en-US" dirty="0"/>
              <a:t>  step_number</a:t>
            </a:r>
          </a:p>
          <a:p>
            <a:r>
              <a:rPr lang="en-US" dirty="0"/>
              <a:t>  instruction</a:t>
            </a:r>
          </a:p>
          <a:p>
            <a:r>
              <a:rPr lang="en-US" dirty="0"/>
              <a:t>  </a:t>
            </a:r>
            <a:r>
              <a:rPr lang="en-US" dirty="0" err="1"/>
              <a:t>instruction_sw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entity "imp_resources" as IMP {</a:t>
            </a:r>
          </a:p>
          <a:p>
            <a:r>
              <a:rPr lang="en-US" dirty="0"/>
              <a:t>  * resource_id (PK)</a:t>
            </a:r>
          </a:p>
          <a:p>
            <a:r>
              <a:rPr lang="en-US" dirty="0"/>
              <a:t>  --</a:t>
            </a:r>
          </a:p>
          <a:p>
            <a:r>
              <a:rPr lang="en-US" dirty="0"/>
              <a:t>  scenario_id (FK)</a:t>
            </a:r>
          </a:p>
          <a:p>
            <a:r>
              <a:rPr lang="en-US" dirty="0"/>
              <a:t>  standard_item</a:t>
            </a:r>
          </a:p>
          <a:p>
            <a:r>
              <a:rPr lang="en-US" dirty="0"/>
              <a:t>  substitutes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entity "user_settings" as SET {</a:t>
            </a:r>
          </a:p>
          <a:p>
            <a:r>
              <a:rPr lang="en-US" dirty="0"/>
              <a:t>  * setting_id (PK)</a:t>
            </a:r>
          </a:p>
          <a:p>
            <a:r>
              <a:rPr lang="en-US" dirty="0"/>
              <a:t>  --</a:t>
            </a:r>
          </a:p>
          <a:p>
            <a:r>
              <a:rPr lang="en-US" dirty="0"/>
              <a:t>  language</a:t>
            </a:r>
          </a:p>
          <a:p>
            <a:r>
              <a:rPr lang="en-US" dirty="0"/>
              <a:t>  tts_enabled</a:t>
            </a:r>
          </a:p>
          <a:p>
            <a:r>
              <a:rPr lang="en-US" dirty="0"/>
              <a:t>  tts_speed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CAT ||--o{ SCN : "has many"</a:t>
            </a:r>
          </a:p>
          <a:p>
            <a:r>
              <a:rPr lang="en-US" dirty="0"/>
              <a:t>SCN ||--o{ STP : "has many"</a:t>
            </a:r>
          </a:p>
          <a:p>
            <a:r>
              <a:rPr lang="en-US" dirty="0"/>
              <a:t>SCN ||--o{ IMP : "has many"</a:t>
            </a:r>
          </a:p>
          <a:p>
            <a:r>
              <a:rPr lang="en-US" dirty="0"/>
              <a:t>@enduml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PLANTUML CODE - Paste at plantuml.com, export PNG, insert into slide:</a:t>
            </a:r>
          </a:p>
          <a:p>
            <a:r>
              <a:rPr lang="en-US" dirty="0"/>
              <a:t>@startuml</a:t>
            </a:r>
          </a:p>
          <a:p>
            <a:r>
              <a:rPr lang="en-US" dirty="0"/>
              <a:t>skinparam ArrowColor #E63946</a:t>
            </a:r>
          </a:p>
          <a:p>
            <a:r>
              <a:rPr lang="en-US" dirty="0"/>
              <a:t>skinparam PackageBorderColor #1C2B36</a:t>
            </a:r>
          </a:p>
          <a:p>
            <a:r>
              <a:rPr lang="en-US" dirty="0"/>
              <a:t>skinparam PackageBackgroundColor #F0F4F8</a:t>
            </a:r>
          </a:p>
          <a:p>
            <a:r>
              <a:rPr lang="en-US" dirty="0"/>
              <a:t>title AidField - Navigation Architecture</a:t>
            </a:r>
          </a:p>
          <a:p>
            <a:r>
              <a:rPr lang="en-US" dirty="0"/>
              <a:t>package "Root Tab Navigator" {</a:t>
            </a:r>
          </a:p>
          <a:p>
            <a:r>
              <a:rPr lang="en-US" dirty="0"/>
              <a:t>  package "Tab 1: HOME" {</a:t>
            </a:r>
          </a:p>
          <a:p>
            <a:r>
              <a:rPr lang="en-US" dirty="0"/>
              <a:t>    [HomeScreen]</a:t>
            </a:r>
          </a:p>
          <a:p>
            <a:r>
              <a:rPr lang="en-US" dirty="0"/>
              <a:t>    [CategoryScreen]</a:t>
            </a:r>
          </a:p>
          <a:p>
            <a:r>
              <a:rPr lang="en-US" dirty="0"/>
              <a:t>    [ScenarioScreen]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package "Tab 2: SEARCH / AI" {</a:t>
            </a:r>
          </a:p>
          <a:p>
            <a:r>
              <a:rPr lang="en-US" dirty="0"/>
              <a:t>    [SearchScreen]</a:t>
            </a:r>
          </a:p>
          <a:p>
            <a:r>
              <a:rPr lang="en-US" dirty="0"/>
              <a:t>    [AIResultScreen]</a:t>
            </a:r>
          </a:p>
          <a:p>
            <a:r>
              <a:rPr lang="en-US" dirty="0"/>
              <a:t>    [VoiceInputScreen]</a:t>
            </a:r>
          </a:p>
          <a:p>
            <a:r>
              <a:rPr lang="en-US" dirty="0"/>
              <a:t>    [ImageInputScreen]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package "Tab 3: SETTINGS" {</a:t>
            </a:r>
          </a:p>
          <a:p>
            <a:r>
              <a:rPr lang="en-US" dirty="0"/>
              <a:t>    [SettingsScreen]</a:t>
            </a:r>
          </a:p>
          <a:p>
            <a:r>
              <a:rPr lang="en-US" dirty="0"/>
              <a:t>    [EmergencyContactsScreen]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[HomeScreen] --&gt; [CategoryScreen]</a:t>
            </a:r>
          </a:p>
          <a:p>
            <a:r>
              <a:rPr lang="en-US" dirty="0"/>
              <a:t>[CategoryScreen] --&gt; [ScenarioScreen]</a:t>
            </a:r>
          </a:p>
          <a:p>
            <a:r>
              <a:rPr lang="en-US" dirty="0"/>
              <a:t>[SearchScreen] --&gt; [AIResultScreen]</a:t>
            </a:r>
          </a:p>
          <a:p>
            <a:r>
              <a:rPr lang="en-US" dirty="0"/>
              <a:t>[SearchScreen] --&gt; [VoiceInputScreen]</a:t>
            </a:r>
          </a:p>
          <a:p>
            <a:r>
              <a:rPr lang="en-US" dirty="0"/>
              <a:t>[SearchScreen] --&gt; [ImageInputScreen]</a:t>
            </a:r>
          </a:p>
          <a:p>
            <a:r>
              <a:rPr lang="en-US" dirty="0"/>
              <a:t>@enduml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620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796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35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639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9257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0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1701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811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391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116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89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84199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150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7316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9051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6897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7151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17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pPr/>
              <a:t>28-May-26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4331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4F3E"/>
          </a:solidFill>
          <a:ln w="12700">
            <a:solidFill>
              <a:srgbClr val="164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2194560" cy="38404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AidField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A8B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Emergency First Aid &amp; AI Triage App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8321040" cy="0"/>
          </a:xfrm>
          <a:prstGeom prst="line">
            <a:avLst/>
          </a:prstGeom>
          <a:noFill/>
          <a:ln w="12700">
            <a:solidFill>
              <a:srgbClr val="2D4A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SQLite  ·  Google Gemini API  ·  Android &amp; 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82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Kenya-focused  ·  Offline-first  ·  Voice &amp; Image Input  ·  English &amp; Swahili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4165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 &amp; Information Technology  ·  Multimedia University of Kenya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F8917-FB72-64FF-4143-4F4CED04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4C0AB5-1401-3D57-2489-ED1CB91100F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137B19-3E34-1ABE-283B-267727BE5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149645"/>
              </p:ext>
            </p:extLst>
          </p:nvPr>
        </p:nvGraphicFramePr>
        <p:xfrm>
          <a:off x="1928971" y="1018904"/>
          <a:ext cx="5278120" cy="2325190"/>
        </p:xfrm>
        <a:graphic>
          <a:graphicData uri="http://schemas.openxmlformats.org/drawingml/2006/table">
            <a:tbl>
              <a:tblPr firstRow="1" firstCol="1" bandRow="1"/>
              <a:tblGrid>
                <a:gridCol w="5278120">
                  <a:extLst>
                    <a:ext uri="{9D8B030D-6E8A-4147-A177-3AD203B41FA5}">
                      <a16:colId xmlns:a16="http://schemas.microsoft.com/office/drawing/2014/main" val="1611312740"/>
                    </a:ext>
                  </a:extLst>
                </a:gridCol>
              </a:tblGrid>
              <a:tr h="465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u="sng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NAME &amp; REG NO</a:t>
                      </a: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29764"/>
                  </a:ext>
                </a:extLst>
              </a:tr>
              <a:tr h="465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BENARD OTIENO CIT-223-095/2023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97526"/>
                  </a:ext>
                </a:extLst>
              </a:tr>
              <a:tr h="465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FRANCIS BRIAN MURETI CIT-223-087/2023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621575"/>
                  </a:ext>
                </a:extLst>
              </a:tr>
              <a:tr h="465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GIKONYO HENRY CHOCHU CIT-223-043/2023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142951"/>
                  </a:ext>
                </a:extLst>
              </a:tr>
              <a:tr h="465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DAVIS MOGENDI  ATUYA    CIT-223-103/2023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5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23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— 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problem, objectives &amp; scope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Background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rural emergency response times: 30–90 minutes — far beyond the golden hour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smartphone penetration, yet nearly all first aid apps require internet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guides assume a medical kit is present — no improvised resource guidance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AidField: offline-first native app (React Native) + AI triage (Gemini API)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804672"/>
            <a:ext cx="0" cy="347472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170432"/>
            <a:ext cx="64008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216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connectivity, no help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5179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fail offline — precisely when emergencies occur far from help.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2130552"/>
            <a:ext cx="64008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improvised guidance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4780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teaches belts, sticks, or cloth as substitutes for medical supplies.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3090672"/>
            <a:ext cx="64008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3136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&amp; paralysis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Untrained bystanders freeze. No calm, voice-guided, step-by-step interface exists.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Research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64008" cy="74980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50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AidField — an offline-first, AI-assisted downloadable mobile application providing emergency first aid guidance with improvised resource recommendations, multimodal input, and graceful offline degradation.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64008" cy="74980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Investigate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knowledge gaps and emergency response challenges in low-connectivity Kenyan environments.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64008" cy="74980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121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panic-proof, user-centred interface minimising cognitive load, with text, voice, and camera input.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98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64008" cy="749808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Develop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module using Gemini API for plain-language, speech-transcribed, and image-based emergency descriptions.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98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898648"/>
            <a:ext cx="64008" cy="74980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Implement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Improvised resource engine mapping household materials to standard first aid supply substitutes.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667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66744"/>
            <a:ext cx="64008" cy="713232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12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Evaluate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9867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Usability, accuracy, and effectiveness through user testing with representative target users.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Significance, Scope &amp; Key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Significance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8892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trauma deaths are preventable with timely first aid (WHO). AidField bridges the gap before help arrives in rural Kenya.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11556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115568"/>
            <a:ext cx="278892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59105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AI in native mobile; advances mHealth design using React Native, SQLite, Gemini API, and native speech/camera APIs.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08776" y="111556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08776" y="1115568"/>
            <a:ext cx="2788920" cy="54864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45936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159105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HCI in crisis scenarios; aligns with SDG 3 (Good Health &amp; Well-Being); replicable framework for health apps in developing countries.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944368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(APK sideload) &amp; iOS (TestFlight) — no app store account required for Android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offline scenarios: bleeding, burns, choking, fractures, snake bites, cardiac arrest &amp; more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Swahili · Kenya emergency contacts pre-loaded (999, 112, Red Cross)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focused: Nairobi, Kiambu, Mombasa, Nakuru counties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633472"/>
            <a:ext cx="0" cy="233172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Key Limitations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for rare presentations → 90% threshold enforced via prompt engineering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(voice/image) requires connectivity → 50 cached scenarios always available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delaying professional care → persistent one-tap emergency dial on every screen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without App Store → TestFlight during development; App Store planned post-project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— Literature Review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die each year from emergencies where immediate action could have helped. Smartphones reach 6.8 billion people — yet most first aid apps remain static, internet-dependent, and hard to use under stress. AidField was designed to close this gap.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0604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preventable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deaths (WHO)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14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60604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worldwide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60604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with AI-driven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guidance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System 1 — American Red Cross First Aid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guidance for burns, bleeding, choking, cardiac arrest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offline access for a subset of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million downloads, medically endorsed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videos, quizzes, and hospital locator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0" cy="338328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only — cannot handle unusual scenarios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input or image-based injury assessment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for North American users and contexts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coverage is partial, requiring re-synchronisation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System 2 — St John Ambulance First Aid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reviewed, evidence-based guidance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aids — photos and diagrams per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 metronome for compression timing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comprehensive offline coverage than most competitors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0" cy="338328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is pre-authored — no dynamic or AI guidance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or camera input for hands-free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improvised resource suggestions for low-resource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interpret ambiguous or multi-symptom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System 3 — ICE (In Case of Emergency) Apps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blood type, allergies, medications, and contacts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first responders even when device is locked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outcomes for patients with complex medical histories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low-maintenance setup for end 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0" cy="338328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1430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displays information but gives no procedural guidance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trained responder is present to act on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minimal value to untrained bystanders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respond to or interpret the current emergency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AidField Addresses Key Weaknesses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generates real-time, tailored guidance for any scenario described in natural language.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voice / image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Voice-in via speech recognition; camera images sent to Claude's vision API for injury assessment.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4114800" cy="54864"/>
          </a:xfrm>
          <a:prstGeom prst="rect">
            <a:avLst/>
          </a:prstGeom>
          <a:solidFill>
            <a:srgbClr val="5A6A74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offline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scenarios cached on install. Full guidance available with zero connectivity, always.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852928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852928"/>
            <a:ext cx="4114800" cy="54864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narrowness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10128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to local context, resources, and hazards when the user provides location detail.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— 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AidField will be built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Methodology — Agile Iterative Development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AidField's technical complexity — AI prompt refinement, dual-tier architecture, and high usability demands — makes an iterative approach the right fit. Each sprint produces a testable increment.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64008" cy="141732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outputs require iterative prompt tuning — waterfall would not allow this.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6459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645920"/>
            <a:ext cx="64008" cy="141732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Under Stress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0848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UX must be tested with real users and refined each cycle.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64008" cy="141732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 online tiers built and tested independently before integration.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32604" y="33147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3246120"/>
            <a:ext cx="64008" cy="141732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Alignment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standard in mobile app development for both Android and iOS.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Iterations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502920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" y="1325880"/>
            <a:ext cx="0" cy="521208"/>
          </a:xfrm>
          <a:prstGeom prst="line">
            <a:avLst/>
          </a:prstGeom>
          <a:noFill/>
          <a:ln w="1905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7955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App &amp; Offline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shell, navigation, 50 cached emergency scenarios with improvised resource tips. Fully functional offline.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02920" cy="502920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" y="2350008"/>
            <a:ext cx="0" cy="521208"/>
          </a:xfrm>
          <a:prstGeom prst="line">
            <a:avLst/>
          </a:prstGeom>
          <a:noFill/>
          <a:ln w="1905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5798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connected. Online natural language query interface with graceful offline fallback.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502920" cy="502920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" y="3374136"/>
            <a:ext cx="0" cy="521208"/>
          </a:xfrm>
          <a:prstGeom prst="line">
            <a:avLst/>
          </a:prstGeom>
          <a:noFill/>
          <a:ln w="1905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28437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Image Input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821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for hands-free queries. Camera input for AI-assisted visual injury assessment.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502920" cy="502920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8679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Refinement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06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with 15 participants. Performance optimisation and app store submission preparation.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interviews with 10 participants — community health workers, first aid trainers, and laypersons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50 scenario selection and UI design priorities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with 15 participants using think-aloud protocol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task completion rate, time-on-task, error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0" cy="338328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170432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 in emergency medicine, medical informatics, and HCI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API, Google Play, and Apple Developer documentation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protocols: Kenya Red Cross, WHO, and ILCOR guidelines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92354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— one codebase for Android &amp; 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0467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65192" y="92354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5192" y="13075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offline storage for the 50-scenario library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225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70662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 guidance and image analysis (gemini-2.5-flash primary, gemini-1.5-flash fallback)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20370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5192" y="23225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 Voice / Camera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70662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speech recognition and camera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Jest + Detox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1056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end-to-end automated UI testing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60273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65192" y="372160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41056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branch-based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 — System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 &amp; defining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System — How Bystanders Seek Help Today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AidField, a bystander in an emergency follows a fragmented, connectivity-dependent path: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Injury, collapse, or sudden illness occurs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121408"/>
            <a:ext cx="164592" cy="0"/>
          </a:xfrm>
          <a:prstGeom prst="line">
            <a:avLst/>
          </a:prstGeom>
          <a:noFill/>
          <a:ln w="1905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7712" y="1993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50592" y="14173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417320"/>
            <a:ext cx="201168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2032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Seeks Help Online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874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Search, WebMD, NHS — all require internet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62272" y="2121408"/>
            <a:ext cx="164592" cy="0"/>
          </a:xfrm>
          <a:prstGeom prst="line">
            <a:avLst/>
          </a:prstGeom>
          <a:noFill/>
          <a:ln w="1905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43984" y="1993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26864" y="14173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417320"/>
            <a:ext cx="2011680" cy="54864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18304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Calls Someone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1874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 friend, relative, or tries from memory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38544" y="2121408"/>
            <a:ext cx="164592" cy="0"/>
          </a:xfrm>
          <a:prstGeom prst="line">
            <a:avLst/>
          </a:prstGeom>
          <a:noFill/>
          <a:ln w="1905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1993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03136" y="14173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03136" y="1417320"/>
            <a:ext cx="201168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1874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Delayed, inconsistent, or no guidance at point of need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failures of the current system: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364992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online options fail without connectivity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 interpret ambiguous or multi-symptom descriptions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improvised resource suggestions for low-resource settings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4.3 — Use Case Diagram: AidField System</a:t>
            </a:r>
            <a:endParaRPr lang="en-US" sz="2000" dirty="0"/>
          </a:p>
        </p:txBody>
      </p:sp>
      <p:pic>
        <p:nvPicPr>
          <p:cNvPr id="44" name="Picture 43" descr="PlantUML Diagram">
            <a:extLst>
              <a:ext uri="{FF2B5EF4-FFF2-40B4-BE49-F238E27FC236}">
                <a16:creationId xmlns:a16="http://schemas.microsoft.com/office/drawing/2014/main" id="{C6E73749-06B6-8A10-EF44-C3060C956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2022"/>
            <a:ext cx="9086335" cy="38717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Must Haves (MoSCoW)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functional requirements derived from Sprint 1 needs assessment (n=15). Key Must Have requirements: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64008" cy="111556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FR01–02 · Offline Library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6824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50 scenario guides on first launch, each with step-by-step instructions and improvised resource substitutes.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64008" cy="111556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FR03–04 · Offline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824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user text to closest scenario via keyword matching + decision tree. Show offline notice when AI unavailable.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64008" cy="1115568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606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FR05–06 · AI Triage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description to Gemini API when online. Response must include action steps, urgency indicator, and improvised resources.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328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532888"/>
            <a:ext cx="64008" cy="111556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2606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FR07–09 · Voice I/O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voice input, transcribe via native speech API, and read instructions aloud (TTS) for fully hands-free operation.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64008" cy="111556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FR10–11 · Image Input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4151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camera image for AI visual injury assessment when online. Hide and redirect offline.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767328"/>
            <a:ext cx="64008" cy="11155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FR12 · Emergency Calls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4151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dialling of Kenya emergency numbers: 999, 112, Kenya Red Cross 0800 723 999.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 — Key Quality Targets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scenario loads ≤ 1 sec · AI response ≤ 5 sec on 4G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14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 ≥ 68 · All critical actions within 3 taps from home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160520" cy="54864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71576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offline failures across 50 test runs · Graceful degradation within 2 sec of disconnect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16052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≥ 90% Correct or Partially Correct across 50 standardised test descriptions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16052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transmitted — only anonymised emergency descriptions sent to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6052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7490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 &amp;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and iOS 14+ · APK ≤ 50 MB · Installed ≤ 100 MB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Algorithms — How the System Routes Every Query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Scenario Router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query → lowercase, remove stopwords, stem tokens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keywords against each scenario's keyword index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≥ 2 matched keywords → return top scenario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&lt; 2 → activate 6-node decision tree (conscious? bleeding? breathing?)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87% correct routing in Sprint 1 testing (n=30 queries)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0" cy="3383280"/>
          </a:xfrm>
          <a:prstGeom prst="line">
            <a:avLst/>
          </a:prstGeom>
          <a:noFill/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Connectivity 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API polled every 2 seconds and on every user interaction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→ send text/speech to Claude text API, or image+text to Claude vision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→ hide AI features, show notice, route to offline scenario matcher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states (429, 503, timeout) → silently fall back to offline guidance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Dataset — 50 Emergency Scenarios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WHO (2020), Kenya Red Cross (2019), and ILCOR (2021) protocols.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arrest (adult &amp; child), chest pain, stroke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Airway &amp; Breathing: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Choking (adult &amp; infant), drowning, asthma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29384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Bleeding &amp; Wounds: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97510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Severe/minor bleeding, nosebleed, puncture, amputation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929384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75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Burns &amp; Scalds: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97510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Superficial, partial, full-thickness, chemical, electrical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24328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700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Fractures &amp; Sprains: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6700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Arm, leg, spinal, ankle, dislocation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624328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6700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Poisoning &amp; Envenomation: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6700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bite, scorpion, bee sting, ingested/inhaled poison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3192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&amp; Neurological: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3649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injury, seizures, febrile convulsion, concussion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3192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3649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Allergic Reactions: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33649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reaction, anaphylaxis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014216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0599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405993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Heatstroke, hypothermia, dehydration, eye injuries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014216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40599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Obstetric &amp; Paediatric: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405993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Childbirth emergency, newborn resuscitation, infant fall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91740" y="470916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28900" y="4754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&amp; Other: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91940" y="4754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 multiple injuries, crush injury, diabetic emergency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 — System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database, UI &amp; API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Offline-First, AI-Enhanced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guidance lives on-device. The Gemini API is an optional enhancement — activated only when online.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" cy="65836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UI — Home, Search, Scenario, Voice, Image, Settings screens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64008" cy="65836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API — detects online/offline in real time, routes to correct 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64008" cy="658368"/>
          </a:xfrm>
          <a:prstGeom prst="rect">
            <a:avLst/>
          </a:prstGeom>
          <a:solidFill>
            <a:srgbClr val="5A6A74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Tier (always available)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50-scenario DB · Keyword Index · Decision Tree · Improvised Resources · Swahili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511296"/>
            <a:ext cx="64008" cy="658368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Tier (when connected)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Text triage · Speech interpretation · Vision / image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261104"/>
            <a:ext cx="64008" cy="6583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Hardware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· Camera · Speaker · Local 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HTTPS / API calls when online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5.1 — High-Level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guidance lives on-device. Gemini API is an optional enhancement — active only when online.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3337560"/>
          </a:xfrm>
          <a:prstGeom prst="rect">
            <a:avLst/>
          </a:prstGeom>
          <a:solidFill>
            <a:srgbClr val="EEF3F6"/>
          </a:solidFill>
          <a:ln w="1905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DELETE THIS TEXT - INSERT PLANTUML PNG DIAGRAM HERE ] (PlantUML code is in the slide Speaker Notes)  (React Native / Expo)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37744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Screen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/ AI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Input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Input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1481328"/>
            <a:ext cx="164592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17520" y="1508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A5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2011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23042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every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2743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481328"/>
            <a:ext cx="1828800" cy="2377440"/>
          </a:xfrm>
          <a:prstGeom prst="rect">
            <a:avLst/>
          </a:prstGeom>
          <a:solidFill>
            <a:srgbClr val="E8F4F0"/>
          </a:solidFill>
          <a:ln w="1524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TIER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7F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(Always 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1938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DB (50)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9472" y="22860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Index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2633472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9472" y="2980944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Improvised Res.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3328416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Swahili Store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481328"/>
            <a:ext cx="1828800" cy="2377440"/>
          </a:xfrm>
          <a:prstGeom prst="rect">
            <a:avLst/>
          </a:prstGeom>
          <a:solidFill>
            <a:srgbClr val="EAF0F8"/>
          </a:solidFill>
          <a:ln w="1524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TIER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6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(When Connected)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1938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1152" y="2286000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triage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31152" y="2633472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interp.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31152" y="2980944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/ image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31152" y="3328416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TTS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2651760"/>
            <a:ext cx="182880" cy="0"/>
          </a:xfrm>
          <a:prstGeom prst="line">
            <a:avLst/>
          </a:prstGeom>
          <a:noFill/>
          <a:ln w="19050">
            <a:solidFill>
              <a:srgbClr val="1A7F6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468880"/>
            <a:ext cx="182880" cy="0"/>
          </a:xfrm>
          <a:prstGeom prst="line">
            <a:avLst/>
          </a:prstGeom>
          <a:noFill/>
          <a:ln w="19050">
            <a:solidFill>
              <a:srgbClr val="1A7F6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675120" y="2834640"/>
            <a:ext cx="182880" cy="0"/>
          </a:xfrm>
          <a:prstGeom prst="line">
            <a:avLst/>
          </a:prstGeom>
          <a:noFill/>
          <a:ln w="19050">
            <a:solidFill>
              <a:srgbClr val="1A6F9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4498848"/>
            <a:ext cx="8595360" cy="38404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HARDWARE   Microphone  ·  Camera  ·  Speaker  ·  Local Storage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493776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91840" y="4937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API  (HTTPS — online only)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4498848"/>
            <a:ext cx="0" cy="438912"/>
          </a:xfrm>
          <a:prstGeom prst="line">
            <a:avLst/>
          </a:prstGeom>
          <a:noFill/>
          <a:ln w="19050">
            <a:solidFill>
              <a:srgbClr val="1A6F9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5-Table SQLite Schema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offline data stored locally in SQLite. No cloud database required.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64008" cy="65836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· category_name · icon_name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64008" cy="65836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scenario_id · FK category_id · title · keywords · urgency_level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06624"/>
            <a:ext cx="64008" cy="658368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05409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step_id · FK scenario_id · step_number · instruction · </a:t>
            </a:r>
            <a:r>
              <a:rPr lang="en-US" sz="1100" dirty="0" err="1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instruction_sw</a:t>
            </a: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(Swahili)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456432"/>
            <a:ext cx="64008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511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imp_resources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0390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resource_id · FK scenario_id · standard_item · substitutes[ ] · notes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206240"/>
            <a:ext cx="64008" cy="658368"/>
          </a:xfrm>
          <a:prstGeom prst="rect">
            <a:avLst/>
          </a:prstGeom>
          <a:solidFill>
            <a:srgbClr val="5A6A74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61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user_settings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5537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setting_id · language (en/sw) · tts_enabled · last_scenario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1──&lt; scenarios 1──&lt; steps  &amp;  scenarios 1──&lt; imp_resources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5.3 — Entity Relationship Diagram (ERD)</a:t>
            </a:r>
            <a:endParaRPr lang="en-US" sz="2000" dirty="0"/>
          </a:p>
        </p:txBody>
      </p:sp>
      <p:pic>
        <p:nvPicPr>
          <p:cNvPr id="90" name="Picture 89" descr="PlantUML Diagram">
            <a:extLst>
              <a:ext uri="{FF2B5EF4-FFF2-40B4-BE49-F238E27FC236}">
                <a16:creationId xmlns:a16="http://schemas.microsoft.com/office/drawing/2014/main" id="{BB31B1F8-B347-4F84-0232-5DB9A356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06" y="981332"/>
            <a:ext cx="5585254" cy="38614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— Navigation &amp; Key Screens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Stack-and-tab navigation. Designed for one-handed, high-stress use — every critical action within 3 taps.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6052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grid of colour-coded category buttons. Red = life-threatening, Amber = urgent, Teal = moderate. Floating emergency dial button always visible.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60520" cy="54864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533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/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input + mic + camera icons. Offline: top-5 keyword matches refresh as user types. Online: Claude response card with steps, urgency badge, TTS button.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072384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072384"/>
            <a:ext cx="4160520" cy="54864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in large font with Swahili toggle. Improvised resources accordion. Floating TTS button reads each step aloud and auto-advances — fully hands-free.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072384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72384"/>
            <a:ext cx="4160520" cy="54864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1638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47872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mic visualiser. Real-time transcription preview. Routes to Claude (online) or offline matcher (offline). Connectivity state always visible.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5.4 — Navigation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377440" cy="47548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10972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Tab Navigator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72768"/>
            <a:ext cx="0" cy="457200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2029968"/>
            <a:ext cx="0" cy="256032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572768"/>
            <a:ext cx="0" cy="713232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2926080" cy="457200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2029968"/>
            <a:ext cx="0" cy="256032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2743200" cy="41148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 — HOME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286000"/>
            <a:ext cx="2743200" cy="411480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 — SEARCH /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743200" cy="411480"/>
          </a:xfrm>
          <a:prstGeom prst="rect">
            <a:avLst/>
          </a:prstGeom>
          <a:solidFill>
            <a:srgbClr val="5A6A74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 — SETTINGS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697480"/>
            <a:ext cx="0" cy="91440"/>
          </a:xfrm>
          <a:prstGeom prst="line">
            <a:avLst/>
          </a:prstGeom>
          <a:noFill/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54864" cy="38404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69748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— quick-access 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0" y="3172968"/>
            <a:ext cx="0" cy="91440"/>
          </a:xfrm>
          <a:prstGeom prst="line">
            <a:avLst/>
          </a:prstGeom>
          <a:noFill/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7296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172968"/>
            <a:ext cx="54864" cy="38404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ImageInputScreen</a:t>
            </a: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camera + AI vision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3648456"/>
            <a:ext cx="0" cy="91440"/>
          </a:xfrm>
          <a:prstGeom prst="line">
            <a:avLst/>
          </a:prstGeom>
          <a:noFill/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484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74320" y="3648456"/>
            <a:ext cx="54864" cy="38404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648456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VoiceInputScreen</a:t>
            </a: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speech recognition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2697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2697480"/>
            <a:ext cx="54864" cy="384048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0128" y="269748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CategoryScreen</a:t>
            </a: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scenario list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2697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2697480"/>
            <a:ext cx="54864" cy="384048"/>
          </a:xfrm>
          <a:prstGeom prst="rect">
            <a:avLst/>
          </a:prstGeom>
          <a:solidFill>
            <a:srgbClr val="5A6A74"/>
          </a:solidFill>
          <a:ln w="1270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36208" y="269748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SettingsScreen — language, TTS toggle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17296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26480" y="3172968"/>
            <a:ext cx="54864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36208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EmergencyContactsScreen — quick dial</a:t>
            </a:r>
            <a:endParaRPr lang="en-US" sz="100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5706B1D3-5590-67EA-A536-D24B9DCDEEC1}"/>
              </a:ext>
            </a:extLst>
          </p:cNvPr>
          <p:cNvSpPr/>
          <p:nvPr/>
        </p:nvSpPr>
        <p:spPr>
          <a:xfrm flipV="1">
            <a:off x="1645920" y="1572768"/>
            <a:ext cx="2926080" cy="475488"/>
          </a:xfrm>
          <a:prstGeom prst="line">
            <a:avLst/>
          </a:prstGeom>
          <a:noFill/>
          <a:ln w="15240">
            <a:solidFill>
              <a:srgbClr val="5A6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1B2EFFCB-6E5C-B55C-A7ED-B3A68194724F}"/>
              </a:ext>
            </a:extLst>
          </p:cNvPr>
          <p:cNvSpPr/>
          <p:nvPr/>
        </p:nvSpPr>
        <p:spPr>
          <a:xfrm>
            <a:off x="1627632" y="4151870"/>
            <a:ext cx="0" cy="91440"/>
          </a:xfrm>
          <a:prstGeom prst="line">
            <a:avLst/>
          </a:prstGeom>
          <a:noFill/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543A9573-0A7B-E51E-E451-2DDE6346AD0E}"/>
              </a:ext>
            </a:extLst>
          </p:cNvPr>
          <p:cNvSpPr/>
          <p:nvPr/>
        </p:nvSpPr>
        <p:spPr>
          <a:xfrm>
            <a:off x="256032" y="415187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48A9263F-0C0E-F7D1-5C20-59F744C40D80}"/>
              </a:ext>
            </a:extLst>
          </p:cNvPr>
          <p:cNvSpPr/>
          <p:nvPr/>
        </p:nvSpPr>
        <p:spPr>
          <a:xfrm>
            <a:off x="256032" y="4151870"/>
            <a:ext cx="54864" cy="384048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B82E8C03-B06F-DCAF-B19E-5F0146381E39}"/>
              </a:ext>
            </a:extLst>
          </p:cNvPr>
          <p:cNvSpPr/>
          <p:nvPr/>
        </p:nvSpPr>
        <p:spPr>
          <a:xfrm>
            <a:off x="365760" y="415187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AIResultScreen</a:t>
            </a: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Gemini API response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— Three Request Modes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modes hit the same generateContent endpoint. The parseAIResponse() handles rendering and error fallback.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64008" cy="1078992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gemini-2.5-flash · maxOutputTokens: 4096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systemInstruction: [emergency prompt] · messages: [{role: user, content: userText}]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64008" cy="1078992"/>
          </a:xfrm>
          <a:prstGeom prst="rect">
            <a:avLst/>
          </a:prstGeom>
          <a:solidFill>
            <a:srgbClr val="1A6F9A"/>
          </a:solidFill>
          <a:ln w="12700">
            <a:solidFill>
              <a:srgbClr val="1A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text query — the expo-speech-recognition transcript is passed directly as the user message content string.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64008" cy="1078992"/>
          </a:xfrm>
          <a:prstGeom prst="rect">
            <a:avLst/>
          </a:prstGeom>
          <a:solidFill>
            <a:srgbClr val="7A5F9A"/>
          </a:solidFill>
          <a:ln w="12700">
            <a:solidFill>
              <a:srgbClr val="7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+ 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7822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[{inlineData: {mimeType: image/jpeg, data: base64Str}}, {text: userText}]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429 / 503 / timeout → silently fall back to offline scenario — user always gets actionable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5CE5C-A153-DA12-18EE-1BC82E1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2475F2-E0DF-8D07-7064-5C7AC3EC85F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D64459-3FF6-FEAC-0627-7BD4CD91A62E}"/>
              </a:ext>
            </a:extLst>
          </p:cNvPr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/>
              <a:t>Chapter 6 - Implementation and Testing</a:t>
            </a:r>
            <a:r>
              <a:rPr lang="en-US" sz="3200" dirty="0"/>
              <a:t> Development Environment, System Build, and Quality Evaluation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6A9267-A627-E36A-55F9-FD62F9D47741}"/>
              </a:ext>
            </a:extLst>
          </p:cNvPr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7487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791FE-39E5-126D-B4D3-6E07229A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E3F680-49A1-F0F1-70BC-AB4C026A15E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80F0FF-F13D-DFAA-F4CD-47B191231552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Development Environment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7A9B5A-DB3B-E53E-5F05-65A078607C0D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BDD86A-4FAC-2724-91C2-AD706B55BF8E}"/>
              </a:ext>
            </a:extLst>
          </p:cNvPr>
          <p:cNvSpPr txBox="1"/>
          <p:nvPr/>
        </p:nvSpPr>
        <p:spPr>
          <a:xfrm>
            <a:off x="111033" y="764177"/>
            <a:ext cx="79683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Hardware and Test Devices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Primary: </a:t>
            </a:r>
            <a:r>
              <a:rPr lang="en-US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Infinix</a:t>
            </a: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Note 30 Pro (Android 13) — physical device, all sprint testing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Emulator: Pixel 6 API 33 — Android Studio AVD, baseline regression tests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Emulator: iPhone 15 Simulator — iOS 17 Xcode, cross-platform smoke tests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Software and Configuration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 Native 0.81.5 (Expo SDK 54) — cross-platform mobile framework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Google Gemini API: gemini-2.5-flash (primary) / gemini-1.5-flash (fallback)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API key loaded from .env via react-native-</a:t>
            </a:r>
            <a:r>
              <a:rPr lang="en-US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dotenv</a:t>
            </a: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— never committed to source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SQLite local database — seeded on first boot, </a:t>
            </a:r>
            <a:r>
              <a:rPr lang="en-US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initialises</a:t>
            </a:r>
            <a:r>
              <a:rPr lang="en-US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within 2 seconds</a:t>
            </a:r>
          </a:p>
        </p:txBody>
      </p:sp>
    </p:spTree>
    <p:extLst>
      <p:ext uri="{BB962C8B-B14F-4D97-AF65-F5344CB8AC3E}">
        <p14:creationId xmlns:p14="http://schemas.microsoft.com/office/powerpoint/2010/main" val="3402858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9C925-580F-205A-6581-A83212E1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36206B-976F-E299-AA1C-58067DDA537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B5AFBF-B099-977B-8564-CF15A9DA2062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 Implementation Highlights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8789B7F-8636-0846-E680-AB4B3177BB62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B8009-D810-3B11-2D36-FF0C005C3E04}"/>
              </a:ext>
            </a:extLst>
          </p:cNvPr>
          <p:cNvSpPr txBox="1"/>
          <p:nvPr/>
        </p:nvSpPr>
        <p:spPr>
          <a:xfrm>
            <a:off x="71846" y="770709"/>
            <a:ext cx="8641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Offline Database — 50 bilingual emergency scenarios seeded on first boot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SQLite with 5 tables: categories, scenarios, steps, imp_resources, user_settings</a:t>
            </a:r>
          </a:p>
          <a:p>
            <a:pPr algn="l"/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 Triage Engine — claudeService.js (legacy filename; uses Google Gemini API)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3-attempt exponential backoff (2 s base delay) before offline fallback on HTTP 429/503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parseAIResponse() strips markdown and maps response sections to structured UI cards</a:t>
            </a:r>
          </a:p>
          <a:p>
            <a:pPr algn="l"/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Swahili TTS — Speech.getAvailableVoicesAsync() selects best sw-KE or sw-TZ voice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Ordinals: </a:t>
            </a:r>
            <a:r>
              <a:rPr lang="en-US" b="0" i="1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Hatua ya kwanza / pili / tatu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(not literal digit pronunciation)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Speaking rate: 0.82 — tuned for clarity under emergency stress conditions</a:t>
            </a:r>
          </a:p>
        </p:txBody>
      </p:sp>
    </p:spTree>
    <p:extLst>
      <p:ext uri="{BB962C8B-B14F-4D97-AF65-F5344CB8AC3E}">
        <p14:creationId xmlns:p14="http://schemas.microsoft.com/office/powerpoint/2010/main" val="2178539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C734F-072C-8265-0866-A8355BE5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B8A2E7-460C-7585-8855-254DE5025AE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A59F95-F934-3A78-5526-D5D43CCB7E7D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Functional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2E0A2D-1658-7C1C-C5CC-B3A277A88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211300"/>
              </p:ext>
            </p:extLst>
          </p:nvPr>
        </p:nvGraphicFramePr>
        <p:xfrm>
          <a:off x="45720" y="751115"/>
          <a:ext cx="8882742" cy="3820889"/>
        </p:xfrm>
        <a:graphic>
          <a:graphicData uri="http://schemas.openxmlformats.org/drawingml/2006/table">
            <a:tbl>
              <a:tblPr/>
              <a:tblGrid>
                <a:gridCol w="1319349">
                  <a:extLst>
                    <a:ext uri="{9D8B030D-6E8A-4147-A177-3AD203B41FA5}">
                      <a16:colId xmlns:a16="http://schemas.microsoft.com/office/drawing/2014/main" val="3763268643"/>
                    </a:ext>
                  </a:extLst>
                </a:gridCol>
                <a:gridCol w="4602479">
                  <a:extLst>
                    <a:ext uri="{9D8B030D-6E8A-4147-A177-3AD203B41FA5}">
                      <a16:colId xmlns:a16="http://schemas.microsoft.com/office/drawing/2014/main" val="289269715"/>
                    </a:ext>
                  </a:extLst>
                </a:gridCol>
                <a:gridCol w="2960914">
                  <a:extLst>
                    <a:ext uri="{9D8B030D-6E8A-4147-A177-3AD203B41FA5}">
                      <a16:colId xmlns:a16="http://schemas.microsoft.com/office/drawing/2014/main" val="766281079"/>
                    </a:ext>
                  </a:extLst>
                </a:gridCol>
              </a:tblGrid>
              <a:tr h="342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ID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70C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D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8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Requirement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70D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D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E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effectLst/>
                        </a:rPr>
                        <a:t>Result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B0D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41636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FR01–02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B0D8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E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8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Offline scenario guides and improvised resource mappings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30E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E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70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75795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FR03–04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F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Keyword routing and offline state UI updates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F0E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6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F0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77344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FR05–06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3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E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Online AI text triage and structured response parsing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3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B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70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373401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FR07–09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7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FB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F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Speech recognition and hands-free TTS step narration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70FB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F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FB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F0F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F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0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797405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FR10–11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3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F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Camera capture and Gemini Vision image analysis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70F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0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F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B00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0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0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81709"/>
                  </a:ext>
                </a:extLst>
              </a:tr>
              <a:tr h="5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FR12</a:t>
                      </a:r>
                    </a:p>
                  </a:txBody>
                  <a:tcPr marL="83995" marR="83995" marT="41998" marB="41998" anchor="ctr">
                    <a:lnL w="12700" cap="flat" cmpd="sng" algn="ctr">
                      <a:solidFill>
                        <a:srgbClr val="B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One-tap emergency dial with confirmation overlay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3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1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PASS</a:t>
                      </a:r>
                    </a:p>
                  </a:txBody>
                  <a:tcPr marL="83995" marR="83995" marT="41998" marB="41998" anchor="ctr">
                    <a:lnL w="762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1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989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82833E4-79A1-0510-341F-56345EF0F5A5}"/>
              </a:ext>
            </a:extLst>
          </p:cNvPr>
          <p:cNvSpPr txBox="1"/>
          <p:nvPr/>
        </p:nvSpPr>
        <p:spPr>
          <a:xfrm>
            <a:off x="107769" y="4629588"/>
            <a:ext cx="8928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Navigation Audit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— All critical paths confirmed within 3 taps from the Home screen</a:t>
            </a:r>
            <a:endParaRPr lang="en-US" dirty="0">
              <a:solidFill>
                <a:srgbClr val="5A6A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2654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5DE26-1CC5-C9B1-7024-0A369374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B3665B-B42C-EA32-BEF5-69691EE469F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904610-1E34-8FE0-32A5-A760425D8179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 Non-Functional and Usability Results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2F5F27-2825-8B72-ACFF-6F06BE03B3B8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1C521-8D1F-818F-58E9-D25EB6D2891A}"/>
              </a:ext>
            </a:extLst>
          </p:cNvPr>
          <p:cNvSpPr txBox="1"/>
          <p:nvPr/>
        </p:nvSpPr>
        <p:spPr>
          <a:xfrm>
            <a:off x="78376" y="738051"/>
            <a:ext cx="88631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Performance — PASS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Offline scenario load: </a:t>
            </a: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0.12 s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average (target: ≤ 1.0 s) 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Gemini API response: </a:t>
            </a: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3.8 s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average (target: ≤ 5.0 s) ✅</a:t>
            </a:r>
          </a:p>
          <a:p>
            <a:pPr algn="l"/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Reliability and Accuracy — PASS / PARTIAL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Zero crashes across all 50 offline stress runs 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96% Correct or Partially Correct across 50 AI test descriptions ⚠️ (2 ambiguous multi-symptom edge cases; offline library provided fallback in both)</a:t>
            </a:r>
          </a:p>
          <a:p>
            <a:pPr algn="l"/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Usability Study — n=15 representative participants, SUS think-aloud protocol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Emergency dial task completion: </a:t>
            </a: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100%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Scenario location within 3 taps: </a:t>
            </a: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86.6%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(13 of 15 without assistance)</a:t>
            </a:r>
          </a:p>
          <a:p>
            <a:pPr algn="l"/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SUS Score: 76.5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— exceeds target of 68, achieves the </a:t>
            </a:r>
            <a:r>
              <a:rPr lang="en-US" b="0" i="1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usability band</a:t>
            </a:r>
          </a:p>
        </p:txBody>
      </p:sp>
    </p:spTree>
    <p:extLst>
      <p:ext uri="{BB962C8B-B14F-4D97-AF65-F5344CB8AC3E}">
        <p14:creationId xmlns:p14="http://schemas.microsoft.com/office/powerpoint/2010/main" val="493774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A74B8-5117-22F4-33D4-7CC34347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C157B5-935B-0B81-C266-F5EF3831AE2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EDC612-8A33-2284-8508-4C5E393A9156}"/>
              </a:ext>
            </a:extLst>
          </p:cNvPr>
          <p:cNvSpPr/>
          <p:nvPr/>
        </p:nvSpPr>
        <p:spPr>
          <a:xfrm>
            <a:off x="41148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/>
              <a:t>Chapter 7 - Conclusions and Recommendations</a:t>
            </a:r>
            <a:r>
              <a:rPr lang="en-US" sz="3200" dirty="0"/>
              <a:t> Objective Achievement, Lessons Learnt, and Future Work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96C56F-C404-9583-CAB4-D562080BDB0A}"/>
              </a:ext>
            </a:extLst>
          </p:cNvPr>
          <p:cNvSpPr/>
          <p:nvPr/>
        </p:nvSpPr>
        <p:spPr>
          <a:xfrm>
            <a:off x="41148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663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B3D2F-A96A-9ECE-CEBF-D44690F8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BECB8B-8486-F59D-2589-EDB5DF4C5D9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0C3527-8529-1AB2-B739-B054A753639B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 Achievement of Objectives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6B413F-FE87-880E-44CE-815685D86A67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2B1D9-8864-4065-A2A8-1065254EBC06}"/>
              </a:ext>
            </a:extLst>
          </p:cNvPr>
          <p:cNvSpPr txBox="1"/>
          <p:nvPr/>
        </p:nvSpPr>
        <p:spPr>
          <a:xfrm>
            <a:off x="130628" y="817312"/>
            <a:ext cx="8641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1 — Investigate Knowledge Gaps:  ACHIEVED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Structured interviews (n=10) shaped the 50-scenario library and improvised resource engine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2 — Panic-Proof Interface:  ACHIEVED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Single-purpose Home screen, all critical actions within 3 taps, SUS score 76.5 (Good)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3 — AI Triage Module:  ACHIEVED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Gemini API integrated with text, voice, and image modalities; 96% accuracy achieved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4 — Improvised Resource Engine:  ACHIEVED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imp_resources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SQLite table maps household items to standard medical supplies per scenario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 5 — Usability Evaluation</a:t>
            </a:r>
            <a:r>
              <a:rPr lang="en-US" b="1" i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ACHIEVED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15 functional tests (all PASS) and 15-user usability study (SUS 76.5)</a:t>
            </a:r>
          </a:p>
        </p:txBody>
      </p:sp>
    </p:spTree>
    <p:extLst>
      <p:ext uri="{BB962C8B-B14F-4D97-AF65-F5344CB8AC3E}">
        <p14:creationId xmlns:p14="http://schemas.microsoft.com/office/powerpoint/2010/main" val="464063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37D6A-7DDA-E0FD-76EC-CDCC8F70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AC1E6D-D6FE-9DD1-1E77-49B9F5A27C0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5BE990-8C6C-D8C6-4ABD-B7DB8CD71E7A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Lessons Learnt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7FC21B-0172-8B51-7D43-14F58ABEBC3C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FBFF7-53F0-988C-7F85-B283186275A1}"/>
              </a:ext>
            </a:extLst>
          </p:cNvPr>
          <p:cNvSpPr txBox="1"/>
          <p:nvPr/>
        </p:nvSpPr>
        <p:spPr>
          <a:xfrm>
            <a:off x="104504" y="796834"/>
            <a:ext cx="85039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Prompt engineering is an iterative discipline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Reliable structured responses required many refinement cycles; strict formatting rules (no markdown, fixed section labels) were essential to consistent response parsing.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Offline-first must be a founding constraint, not an afterthought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Building the SQLite tier first prevented major architectural rework in later sprints. Every feature was designed with an offline fallback from day one.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Physical device testing is irreplaceable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 bar inset clipping on the </a:t>
            </a:r>
            <a:r>
              <a:rPr lang="en-US" b="0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Infinix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Note 30 Pro and TTS voice fallback issues were invisible on emulators and would have shipped as bugs without physical device testing.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API key management requires discipline from day one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 variable isolation via .env and react-native-</a:t>
            </a:r>
            <a:r>
              <a:rPr lang="en-US" b="0" i="0" dirty="0" err="1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dotenv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prevents accidental source control leaks and makes production key rotation straightforward.</a:t>
            </a:r>
          </a:p>
          <a:p>
            <a:pPr>
              <a:buNone/>
            </a:pPr>
            <a:br>
              <a:rPr lang="en-US" dirty="0">
                <a:solidFill>
                  <a:srgbClr val="5A6A74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5A6A7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78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7161E-58F2-F9E6-49DF-D21F58C4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1383C1-415C-85F1-6F62-366730E1907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37BEC0-4507-F7E2-F7F1-C4973520B227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Recommendations for Future Work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72BFCE-0357-ABDD-0485-79995F2FAB4D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40EC-A5C5-5D48-FF68-42D1A2B6F43A}"/>
              </a:ext>
            </a:extLst>
          </p:cNvPr>
          <p:cNvSpPr txBox="1"/>
          <p:nvPr/>
        </p:nvSpPr>
        <p:spPr>
          <a:xfrm>
            <a:off x="137160" y="757646"/>
            <a:ext cx="86084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Play Store and App Store Publication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Move from APK sideloading (Android) and TestFlight (iOS) to full store listings for wider reach, auto-updates, and compliance with platform security requirements.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API Key Proxy Backend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Route all Gemini API calls through a Cloud Function or Firebase Function to protect the API key from binary extraction from the production APK.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Offline AI via On-Device Models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Explore Gemma 3 or Phi-3 Mini integration to provide AI-quality guidance without internet connectivity, eliminating the dependency on the Gemini API for critical use cases.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Clinical Scenario Validation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Partner with Kenya Red Cross and clinical professionals to review, validate, and expand the scenario library beyond the initial 50, with a community contribution workflow.</a:t>
            </a:r>
          </a:p>
        </p:txBody>
      </p:sp>
    </p:spTree>
    <p:extLst>
      <p:ext uri="{BB962C8B-B14F-4D97-AF65-F5344CB8AC3E}">
        <p14:creationId xmlns:p14="http://schemas.microsoft.com/office/powerpoint/2010/main" val="3716016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28B7D-FEBE-5CA8-200D-4D4A52D2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75EAD6-B24B-8F15-65F5-4AF08EEEF46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C0D38C-48D0-1285-163D-922B60BC7803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Conclusion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BE02FC-F264-DD41-8F92-FFDD3ADAFE0C}"/>
              </a:ext>
            </a:extLst>
          </p:cNvPr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E636D-7401-E5CC-4D8D-4558092BFF4A}"/>
              </a:ext>
            </a:extLst>
          </p:cNvPr>
          <p:cNvSpPr txBox="1"/>
          <p:nvPr/>
        </p:nvSpPr>
        <p:spPr>
          <a:xfrm>
            <a:off x="182880" y="685800"/>
            <a:ext cx="81381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AidField successfully closes a critical gap in emergency response technology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Delivers reliable offline guidance for 50 evidence-based scenarios with zero connectivity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Enhances guidance with real-time AI triage, voice, and visual input when online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dual-tier architecture ensures no user is ever left without actionable guidance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Online tier: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Gemini API multimodal triage (text, voice, image), 96% accuracy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Offline tier:</a:t>
            </a: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SQLite library with bilingual steps and improvised resource substitutes</a:t>
            </a:r>
          </a:p>
          <a:p>
            <a:pPr algn="l">
              <a:buNone/>
            </a:pPr>
            <a:r>
              <a:rPr lang="en-US" b="1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Broader Contribution to Research and Practice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Advances mHealth design for low-resource environments in alignment with SDG 3 (Good Health and Well-Being)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Provides a replicable, validated framework for emergency health technology across East Africa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5A6A7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"In its production form, AidField has the potential to save lives."</a:t>
            </a:r>
            <a:endParaRPr lang="en-US" b="0" i="0" dirty="0">
              <a:solidFill>
                <a:srgbClr val="5A6A7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9673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261</TotalTime>
  <Words>4449</Words>
  <Application>Microsoft Office PowerPoint</Application>
  <PresentationFormat>On-screen Show (16:9)</PresentationFormat>
  <Paragraphs>603</Paragraphs>
  <Slides>42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Calisto MT</vt:lpstr>
      <vt:lpstr>Cambria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M</cp:lastModifiedBy>
  <cp:revision>6</cp:revision>
  <dcterms:created xsi:type="dcterms:W3CDTF">2026-04-19T19:23:20Z</dcterms:created>
  <dcterms:modified xsi:type="dcterms:W3CDTF">2026-05-28T06:50:10Z</dcterms:modified>
</cp:coreProperties>
</file>